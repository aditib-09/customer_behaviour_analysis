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ublic Sans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Public Sans Medium" panose="020B0604020202020204" charset="0"/>
      <p:regular r:id="rId16"/>
    </p:embeddedFont>
    <p:embeddedFont>
      <p:font typeface="Public Sans SemiBold" panose="020B0604020202020204" charset="0"/>
      <p:regular r:id="rId17"/>
    </p:embeddedFont>
    <p:embeddedFont>
      <p:font typeface="Sora ExtraBold" panose="020B0604020202020204" charset="0"/>
      <p:regular r:id="rId18"/>
    </p:embeddedFont>
    <p:embeddedFont>
      <p:font typeface="Sora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46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portfolio project: taking 3,900 retail transactions through Python cleaning, relational SQL analysis in Oracle, and executive dashboards in Power BI to drive targeted merchandising and retention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technical layers: data preparation in Python Pandas, analytical modeling and querying in Oracle SQL, and business visualization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key data-cleaning transformations: category-wise median review ratings, standardized column names for Python and SQL, four age groups, and purchase-frequency labels converted into day intervals with redundant promo-code information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analytical lenses: Value, Behavior, and Friction. Walk through each lens with its corresponding business takeaway as requested in the outline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tiles establish the baseline, while the subscription split and category ranking show where retention and merchandising opportunities sit. Values shown are from screenshot-2026-09-28-235734-a85bc12q.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paired age-group charts to show that Young Adults lead both revenue and purchase count, while the remaining groups are comparatively close. Values shown are from screenshot-2026-09-28-235734-a85bc12q.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62000"/>
            <a:ext cx="368360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SHOPPING BEHAVIOR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05947" y="762000"/>
            <a:ext cx="205357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END-TO-END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4487" y="1272480"/>
            <a:ext cx="80198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From raw transactions to business decisions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3429000"/>
            <a:ext cx="8019849" cy="65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complete workflow connecting Python data cleaning, Oracle SQL modeling, and Power BI executive reporting.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4310743"/>
            <a:ext cx="8019849" cy="830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kern="0" spc="12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Customer Analytics Practice</a:t>
            </a:r>
            <a:r>
              <a:rPr lang="en-US" sz="1250" kern="0" spc="1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Enterprise Data Architecture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kern="0" spc="12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 cohort study across 3,900 customer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71003" y="762000"/>
            <a:ext cx="12700" cy="205680"/>
          </a:xfrm>
          <a:prstGeom prst="rect">
            <a:avLst/>
          </a:prstGeom>
          <a:solidFill>
            <a:srgbClr val="A7B3B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88108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project connects three layers of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359124"/>
            <a:ext cx="3454314" cy="2810669"/>
          </a:xfrm>
          <a:prstGeom prst="roundRect">
            <a:avLst>
              <a:gd name="adj" fmla="val 1152"/>
            </a:avLst>
          </a:prstGeom>
          <a:solidFill>
            <a:srgbClr val="E7EA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78" y="2638524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578" y="3197324"/>
            <a:ext cx="29463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3578" y="3764359"/>
            <a:ext cx="32003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PYTHON &amp; PANDAS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3578" y="4089400"/>
            <a:ext cx="294632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Load, inspect, clean, and enrich the shopping data.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68691" y="2359124"/>
            <a:ext cx="3454314" cy="2810669"/>
          </a:xfrm>
          <a:prstGeom prst="roundRect">
            <a:avLst>
              <a:gd name="adj" fmla="val 1152"/>
            </a:avLst>
          </a:prstGeom>
          <a:solidFill>
            <a:srgbClr val="E7EAF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684" y="2638524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2684" y="3197324"/>
            <a:ext cx="29463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622684" y="3764359"/>
            <a:ext cx="32003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ORACLE &amp; SQL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22684" y="4089400"/>
            <a:ext cx="29463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 the cleaned CUSTOMER table into Oracle and answer ten business questions with SQL.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27797" y="2359124"/>
            <a:ext cx="3454314" cy="2810669"/>
          </a:xfrm>
          <a:prstGeom prst="roundRect">
            <a:avLst>
              <a:gd name="adj" fmla="val 1152"/>
            </a:avLst>
          </a:prstGeom>
          <a:solidFill>
            <a:srgbClr val="E7EAF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0" y="2638524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0" y="3197324"/>
            <a:ext cx="29463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Visualize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81790" y="3764359"/>
            <a:ext cx="32003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POWER QUERY &amp; POWER BI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381790" y="4089400"/>
            <a:ext cx="29463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Connect Oracle to Power BI through Power Query for interactive reporting.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DATASET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3,900 purchase records create a usable customer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19498"/>
            <a:ext cx="3572877" cy="4228902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273498"/>
            <a:ext cx="33188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3578" y="2681486"/>
            <a:ext cx="306489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3,900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3578" y="3608586"/>
            <a:ext cx="331888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rows across 18 columns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9359" y="2019498"/>
            <a:ext cx="3572976" cy="4228902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9" name="Text 7"/>
          <p:cNvSpPr/>
          <p:nvPr/>
        </p:nvSpPr>
        <p:spPr>
          <a:xfrm>
            <a:off x="4563353" y="2273498"/>
            <a:ext cx="33189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Signals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63353" y="2614811"/>
            <a:ext cx="306498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demographics, products, purchase amounts, discounts, shipping, subscriptions, and review ratings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09233" y="2019498"/>
            <a:ext cx="3572877" cy="4228902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63227" y="2273498"/>
            <a:ext cx="33188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63227" y="2681486"/>
            <a:ext cx="306489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37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63227" y="3608586"/>
            <a:ext cx="306489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missing review ratings, handled without dropping records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Cleaning turned raw fields into analysis-ready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649339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Filled missing review ratings with category-wise medians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24442" y="2649339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Standardized column names for Python and SQL use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992390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four age groups: Young Adult, Adult, Middle-aged, and Senior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24442" y="4835922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Converted purchase-frequency labels into day intervals and removed redundant promo-code information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89498" y="2019498"/>
            <a:ext cx="12700" cy="2114451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4127599"/>
            <a:ext cx="5486263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498" y="4133949"/>
            <a:ext cx="12700" cy="2114451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4127599"/>
            <a:ext cx="5486263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2" name="Text 10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81063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Ten SQL questions translate transactions into business signals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807196"/>
            <a:ext cx="5333867" cy="1032470"/>
          </a:xfrm>
          <a:prstGeom prst="roundRect">
            <a:avLst>
              <a:gd name="adj" fmla="val 3137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010396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by gender, subscription status, and age group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48244" y="2807196"/>
            <a:ext cx="5333867" cy="1032470"/>
          </a:xfrm>
          <a:prstGeom prst="roundRect">
            <a:avLst>
              <a:gd name="adj" fmla="val 3137"/>
            </a:avLst>
          </a:prstGeom>
          <a:solidFill>
            <a:srgbClr val="E7EAF0"/>
          </a:solidFill>
          <a:ln/>
        </p:spPr>
      </p:sp>
      <p:sp>
        <p:nvSpPr>
          <p:cNvPr id="6" name="Text 4"/>
          <p:cNvSpPr/>
          <p:nvPr/>
        </p:nvSpPr>
        <p:spPr>
          <a:xfrm>
            <a:off x="6476838" y="3010396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Discounted customers who still spend above the average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4144466"/>
            <a:ext cx="5333867" cy="1032470"/>
          </a:xfrm>
          <a:prstGeom prst="roundRect">
            <a:avLst>
              <a:gd name="adj" fmla="val 3137"/>
            </a:avLst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4347666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Top-rated products, discount-dependent products, and category leaders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4144466"/>
            <a:ext cx="5333867" cy="1032470"/>
          </a:xfrm>
          <a:prstGeom prst="roundRect">
            <a:avLst>
              <a:gd name="adj" fmla="val 3137"/>
            </a:avLst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4347666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Shipping economics, customer segments, and repeat-buyer subscription behavior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31479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analysis is built to compare value, behavior, and friction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944912"/>
            <a:ext cx="3589843" cy="2081510"/>
          </a:xfrm>
          <a:prstGeom prst="rect">
            <a:avLst/>
          </a:prstGeom>
          <a:solidFill>
            <a:srgbClr val="E7EA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3148112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80" y="3706912"/>
            <a:ext cx="323425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87380" y="4273947"/>
            <a:ext cx="323425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spend and total revenue across genders and subscription statuses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00926" y="2944912"/>
            <a:ext cx="3589843" cy="2081510"/>
          </a:xfrm>
          <a:prstGeom prst="rect">
            <a:avLst/>
          </a:prstGeom>
          <a:noFill/>
          <a:ln w="6350">
            <a:solidFill>
              <a:srgbClr val="A7B3B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071" y="3154462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5071" y="3713262"/>
            <a:ext cx="322155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Behavior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485071" y="4280297"/>
            <a:ext cx="322155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New, Returning, and Loyal customer segments based on purchase history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992267" y="2944912"/>
            <a:ext cx="3589843" cy="2081510"/>
          </a:xfrm>
          <a:prstGeom prst="rect">
            <a:avLst/>
          </a:prstGeom>
          <a:solidFill>
            <a:srgbClr val="E7EAF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063" y="3148112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70063" y="3706912"/>
            <a:ext cx="323425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Friction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170063" y="4273947"/>
            <a:ext cx="323425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purchase amount by Standard versus Express shipping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02619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segmentation creates a path from purchase history to action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28752"/>
            <a:ext cx="539736" cy="539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3762177"/>
            <a:ext cx="342891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585" y="4329212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first-purchase patterns and onboarding opportunities.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3028752"/>
            <a:ext cx="539736" cy="539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95688" y="3762177"/>
            <a:ext cx="320032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495688" y="4329212"/>
            <a:ext cx="32003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Understand repeat behavior and the bridge to subscription.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3028752"/>
            <a:ext cx="539736" cy="539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3196" y="3762177"/>
            <a:ext cx="342891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153196" y="4329212"/>
            <a:ext cx="34289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purchase depth to inform retention and loyalty programs.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4260743" y="3028752"/>
            <a:ext cx="12700" cy="192653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Shape 8"/>
          <p:cNvSpPr/>
          <p:nvPr/>
        </p:nvSpPr>
        <p:spPr>
          <a:xfrm>
            <a:off x="7918252" y="3028752"/>
            <a:ext cx="12700" cy="192653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Text 9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750" kern="0" spc="-27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Power BI turns the analysis into an interactive reporting layer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09585" y="1157486"/>
            <a:ext cx="3555911" cy="969367"/>
          </a:xfrm>
          <a:prstGeom prst="roundRect">
            <a:avLst>
              <a:gd name="adj" fmla="val 2861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12780" y="1335286"/>
            <a:ext cx="3352716" cy="16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82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AVG. PURCHASE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12780" y="1597918"/>
            <a:ext cx="3352716" cy="3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$59.8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4317892" y="1157486"/>
            <a:ext cx="3555911" cy="969367"/>
          </a:xfrm>
          <a:prstGeom prst="roundRect">
            <a:avLst>
              <a:gd name="adj" fmla="val 2861"/>
            </a:avLst>
          </a:prstGeom>
          <a:solidFill>
            <a:srgbClr val="E7EAF0"/>
          </a:solidFill>
          <a:ln/>
        </p:spPr>
      </p:sp>
      <p:sp>
        <p:nvSpPr>
          <p:cNvPr id="7" name="Text 5"/>
          <p:cNvSpPr/>
          <p:nvPr/>
        </p:nvSpPr>
        <p:spPr>
          <a:xfrm>
            <a:off x="4521087" y="1335286"/>
            <a:ext cx="3352716" cy="16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82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AVG. RATING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21087" y="1597918"/>
            <a:ext cx="3352716" cy="3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3.75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8026199" y="1157486"/>
            <a:ext cx="3555911" cy="969367"/>
          </a:xfrm>
          <a:prstGeom prst="roundRect">
            <a:avLst>
              <a:gd name="adj" fmla="val 2861"/>
            </a:avLst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394" y="1335286"/>
            <a:ext cx="3352716" cy="16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0" spc="82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394" y="1597918"/>
            <a:ext cx="3352716" cy="35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3.9K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609585" y="2268835"/>
            <a:ext cx="5333867" cy="4267895"/>
          </a:xfrm>
          <a:prstGeom prst="roundRect">
            <a:avLst>
              <a:gd name="adj" fmla="val 650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761981" y="2395835"/>
            <a:ext cx="5029074" cy="26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kern="0" spc="-15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Subscription status</a:t>
            </a:r>
            <a:endParaRPr lang="en-US" sz="15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753122"/>
            <a:ext cx="4306184" cy="3410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1981" y="6226274"/>
            <a:ext cx="518147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Most customers are not subscribed, highlighting retention upside.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48244" y="2268835"/>
            <a:ext cx="5333867" cy="4267895"/>
          </a:xfrm>
          <a:prstGeom prst="roundRect">
            <a:avLst>
              <a:gd name="adj" fmla="val 650"/>
            </a:avLst>
          </a:prstGeom>
          <a:solidFill>
            <a:srgbClr val="E7EA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640" y="2395835"/>
            <a:ext cx="5029074" cy="26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kern="0" spc="-15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Category ranking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00640" y="2774057"/>
            <a:ext cx="5029074" cy="111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Clothing</a:t>
            </a:r>
            <a:endParaRPr lang="en-US" sz="1450" dirty="0"/>
          </a:p>
          <a:p>
            <a:pPr marL="294640" indent="-29464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Accessories</a:t>
            </a:r>
            <a:endParaRPr lang="en-US" sz="1450" dirty="0"/>
          </a:p>
          <a:p>
            <a:pPr marL="294640" indent="-29464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Footwear</a:t>
            </a:r>
            <a:endParaRPr lang="en-US" sz="1450" dirty="0"/>
          </a:p>
          <a:p>
            <a:pPr marL="294640" indent="-294640" algn="l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Outerwear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Age-group views reveal revenue and purchase volume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74564"/>
            <a:ext cx="5333867" cy="4938613"/>
          </a:xfrm>
          <a:prstGeom prst="roundRect">
            <a:avLst>
              <a:gd name="adj" fmla="val 651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401564"/>
            <a:ext cx="502907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by age group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1833166"/>
            <a:ext cx="4994646" cy="3955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5873353"/>
            <a:ext cx="518147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 Adults lead revenue; the other groups cluster closely.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48244" y="1274564"/>
            <a:ext cx="5333867" cy="4938613"/>
          </a:xfrm>
          <a:prstGeom prst="roundRect">
            <a:avLst>
              <a:gd name="adj" fmla="val 651"/>
            </a:avLst>
          </a:prstGeom>
          <a:solidFill>
            <a:srgbClr val="E7EAF0"/>
          </a:solidFill>
          <a:ln/>
        </p:spPr>
      </p:sp>
      <p:sp>
        <p:nvSpPr>
          <p:cNvPr id="8" name="Text 5"/>
          <p:cNvSpPr/>
          <p:nvPr/>
        </p:nvSpPr>
        <p:spPr>
          <a:xfrm>
            <a:off x="6400640" y="1401564"/>
            <a:ext cx="502907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Sales by age group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1833166"/>
            <a:ext cx="4994646" cy="39556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640" y="5873353"/>
            <a:ext cx="518147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Purchase volume follows the same broad age-group pattern.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Five recommendations follow directly from the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960562"/>
            <a:ext cx="6999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5865" y="1916112"/>
            <a:ext cx="1066624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subscription benefits more relevant to repeat customers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977356"/>
            <a:ext cx="7429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8826" y="2932906"/>
            <a:ext cx="1062328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loyalty programs to encourage repeat purchases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879949"/>
            <a:ext cx="7497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5672" y="3835499"/>
            <a:ext cx="1061643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Balance discount-driven sales with profitability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782443"/>
            <a:ext cx="7485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4481" y="4737993"/>
            <a:ext cx="1061762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highly rated and frequently purchased products in campaigns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5799336"/>
            <a:ext cx="7518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7755" y="5754886"/>
            <a:ext cx="1061435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age-group and shipping findings to target marketing and service decisions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2631877"/>
            <a:ext cx="10972526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3534370"/>
            <a:ext cx="10972526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4436963"/>
            <a:ext cx="10972526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5339457"/>
            <a:ext cx="10972526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4509"/>
            <a:ext cx="685782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 complete analytics pipeline turns shopping data into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750641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09585" y="3073896"/>
            <a:ext cx="3136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 and Pandas prepare the data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330592" y="2750641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30592" y="3073896"/>
            <a:ext cx="3136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Oracle stores the cleaned CUSTOMER table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4284166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09585" y="4607421"/>
            <a:ext cx="3136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frames the business questions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30592" y="4284166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30592" y="4607421"/>
            <a:ext cx="3136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BI makes the findings usable for decisions</a:t>
            </a:r>
            <a:endParaRPr lang="en-US" sz="1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32149" y="2750641"/>
            <a:ext cx="12700" cy="1241425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5" y="3985716"/>
            <a:ext cx="342891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Shape 11"/>
          <p:cNvSpPr/>
          <p:nvPr/>
        </p:nvSpPr>
        <p:spPr>
          <a:xfrm>
            <a:off x="4032149" y="3992066"/>
            <a:ext cx="12700" cy="1241425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Shape 12"/>
          <p:cNvSpPr/>
          <p:nvPr/>
        </p:nvSpPr>
        <p:spPr>
          <a:xfrm>
            <a:off x="4038499" y="3985716"/>
            <a:ext cx="342891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51898"/>
            <a:ext cx="73449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Widescreen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Sora ExtraBold</vt:lpstr>
      <vt:lpstr>Arial</vt:lpstr>
      <vt:lpstr>Public Sans Bold</vt:lpstr>
      <vt:lpstr>Public Sans</vt:lpstr>
      <vt:lpstr>Public Sans Medium</vt:lpstr>
      <vt:lpstr>Sora SemiBold</vt:lpstr>
      <vt:lpstr>Public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Aditi Behera</cp:lastModifiedBy>
  <cp:revision>2</cp:revision>
  <dcterms:created xsi:type="dcterms:W3CDTF">2026-09-29T05:21:49Z</dcterms:created>
  <dcterms:modified xsi:type="dcterms:W3CDTF">2026-09-29T05:23:19Z</dcterms:modified>
</cp:coreProperties>
</file>